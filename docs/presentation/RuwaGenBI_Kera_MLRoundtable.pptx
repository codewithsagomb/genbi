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Walk through the cycle: business need, analyst, dashboard, consult.</a:t>
            </a:r>
          </a:p>
          <a:p>
            <a:r>
              <a:t>Stress: any unanticipated question means a full development cycle.</a:t>
            </a:r>
          </a:p>
          <a:p>
            <a:r>
              <a:t>Concrete proof point from this very project: the Dashboard page is exactly that pattern.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State the core proposition plainly.</a:t>
            </a:r>
          </a:p>
          <a:p>
            <a:r>
              <a:t>Name the risk (hallucination) immediately, it defuses the question the audience is already forming.</a:t>
            </a:r>
          </a:p>
          <a:p>
            <a:r>
              <a:t>Explicitly frame the rest of the talk as the answer to that risk.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This slide answers the template's own “why is this important” prompt directly, before diving into architecture.</a:t>
            </a:r>
          </a:p>
          <a:p>
            <a:r>
              <a:t>Go through the 4 cards briskly, they are meant to land quickly, not be read word for word.</a:t>
            </a:r>
          </a:p>
          <a:p>
            <a:r>
              <a:t>Close on the italic line: the shift is from “needs a developer” to “just ask.” That's the business takeaway to leave them with before the technical deep dive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Three layers, one sentence each.</a:t>
            </a:r>
          </a:p>
          <a:p>
            <a:r>
              <a:t>Stress Ollama running natively, never in Docker, zero external network call.</a:t>
            </a:r>
          </a:p>
          <a:p>
            <a:r>
              <a:t>This is the foundation for the “zero data leakage” argument used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this as the visual anchor for the whole Approach &amp; Methodology section.</a:t>
            </a:r>
          </a:p>
          <a:p>
            <a:r>
              <a:t>Point out the fan-out from the backend: one orchestrator, three local services.</a:t>
            </a:r>
          </a:p>
          <a:p>
            <a:r>
              <a:t>Repeat: Ollama and Postgres are both local, nothing shown here calls out to the internet.</a:t>
            </a:r>
          </a:p>
          <a:p>
            <a:r>
              <a:t>The 9 pipeline steps that follow all happen inside the FastAPI box.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raw, staging, marts: one sentence each, do not linger.</a:t>
            </a:r>
          </a:p>
          <a:p>
            <a:r>
              <a:t>Key point: isolation is a Postgres policy (RLS), not a WHERE clause written in Python.</a:t>
            </a:r>
          </a:p>
          <a:p>
            <a:r>
              <a:t>Repeat the guarantee: even if the LLM forgets a filter, cross-pharmacy access is impossible.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Overview only, do not detail every step here, the next slides zoom in.</a:t>
            </a:r>
          </a:p>
          <a:p>
            <a:r>
              <a:t>Give the headline number: about 800ms end-to-end on a reference question.</a:t>
            </a:r>
          </a:p>
          <a:p>
            <a:r>
              <a:t>Point out visually: only 2 of the 9 boxes touch the LLM, the rest is deterministic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</a:t>
            </a:r>
          </a:p>
          <a:p>
            <a:r>
              <a:t>Two distinct mechanisms, stress the difference: past examples vs. relevant tables.</a:t>
            </a:r>
          </a:p>
          <a:p>
            <a:r>
              <a:t>Repeat: zero LLM call in schema filtering, fast and deterministic.</a:t>
            </a:r>
          </a:p>
          <a:p>
            <a:r>
              <a:t>Key number: schema shrunk from 13,200 to 2,600 characters, a measured quality gain.</a:t>
            </a:r>
          </a:p>
          <a:p>
            <a:r>
              <a:t>Both cited papers are on the References slide if anyone asks for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</a:t>
            </a:r>
          </a:p>
          <a:p>
            <a:r>
              <a:t>Zero temperature: explain why, same question should always produce the same SQL.</a:t>
            </a:r>
          </a:p>
          <a:p>
            <a:r>
              <a:t>If asked: critical reminders sit right before the question, high-recency position.</a:t>
            </a:r>
          </a:p>
          <a:p>
            <a:r>
              <a:t>State explicitly: this validation is not the real security boundary, that comes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1:30, KEY MOMENT, take your time here</a:t>
            </a:r>
          </a:p>
          <a:p>
            <a:r>
              <a:t>Walk the cycle slowly: fails, exact error goes back to the LLM, it corrects, retries.</a:t>
            </a:r>
          </a:p>
          <a:p>
            <a:r>
              <a:t>Stress the difference with a blind retry: the model sees why, not just that it should retry.</a:t>
            </a:r>
          </a:p>
          <a:p>
            <a:r>
              <a:t>Anticipate the likely question: what if all 3 attempts fail? Point at the right-hand box: a clear error is returned to the user, never silence or a made-up result.</a:t>
            </a:r>
          </a:p>
          <a:p>
            <a:r>
              <a:t>If asked about the paper's venue: it is an arXiv preprint, cite it as such, do not say ICLR 2025, that claim was checked and is not supported by the paper's own listing.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Distinguish clearly from the previous slide: here the SQL runs without error, different question.</a:t>
            </a:r>
          </a:p>
          <a:p>
            <a:r>
              <a:t>Go through the 3 rules quickly, do not over-explain each one.</a:t>
            </a:r>
          </a:p>
          <a:p>
            <a:r>
              <a:t>Stress: most text-to-SQL systems do not have this layer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Formatting step: pure conversions, zero LLM dependency, move quickly.</a:t>
            </a:r>
          </a:p>
          <a:p>
            <a:r>
              <a:t>Insight: low temperature plus deterministic correction after the fact on amount formatting.</a:t>
            </a:r>
          </a:p>
          <a:p>
            <a:r>
              <a:t>Key message, try to say it close to verbatim: the architecture assumes the LLM will make mistakes, and organizes around that.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0:45</a:t>
            </a:r>
          </a:p>
          <a:p>
            <a:r>
              <a:t>Go through the cascade quickly, one sentence per rule, follow the numbers top to bottom.</a:t>
            </a:r>
          </a:p>
          <a:p>
            <a:r>
              <a:t>Repeat: this logic is entirely Python and regex, zero LLM here either.</a:t>
            </a:r>
          </a:p>
          <a:p>
            <a:r>
              <a:t>Mention the frontend refines the choice further (single line vs. combo chart).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Business rules live in configuration, not code, stress this choice.</a:t>
            </a:r>
          </a:p>
          <a:p>
            <a:r>
              <a:t>Hot reload, no redeployment: a good example of the project's agility.</a:t>
            </a:r>
          </a:p>
          <a:p>
            <a:r>
              <a:t>If a technical audience is curious: every rule is a readable file, not hidden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Recap the 3 layers, one sentence each, do not repeat what was already said in detail.</a:t>
            </a:r>
          </a:p>
          <a:p>
            <a:r>
              <a:t>Repeat the most important point: none of these 3 layers depends on the LLM being reliable.</a:t>
            </a:r>
          </a:p>
          <a:p>
            <a:r>
              <a:t>Best answer if someone asks what happens if the model gets it completely wrong.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</a:t>
            </a:r>
          </a:p>
          <a:p>
            <a:r>
              <a:t>Golden set of 50 questions, reproducible on every change, mention briefly.</a:t>
            </a:r>
          </a:p>
          <a:p>
            <a:r>
              <a:t>The point to really land here: an argued rejection of a bigger model, with precise numbers.</a:t>
            </a:r>
          </a:p>
          <a:p>
            <a:r>
              <a:t>It shows engineering discipline, not just “we picked the biggest model available.”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 to 3:00, SWITCH TO THE LIVE APPLICATION</a:t>
            </a:r>
          </a:p>
          <a:p>
            <a:r>
              <a:t>Ask a simple question first, to show the normal path (SQL, chart, insight).</a:t>
            </a:r>
          </a:p>
          <a:p>
            <a:r>
              <a:t>If time allows: ask a slightly ambiguous question to trigger MARS-SQL live.</a:t>
            </a:r>
          </a:p>
          <a:p>
            <a:r>
              <a:t>Backup plan ready: screenshot or short video if Ollama is slow that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1:00, SECOND MOMENT WHERE A TECHNICAL AUDIENCE DIGS IN, leave room</a:t>
            </a:r>
          </a:p>
          <a:p>
            <a:r>
              <a:t>Own it fully: Ollama is single-threaded, no real parallelism today.</a:t>
            </a:r>
          </a:p>
          <a:p>
            <a:r>
              <a:t>Context to repeat: lab MVP, not production, this is an assumed choice.</a:t>
            </a:r>
          </a:p>
          <a:p>
            <a:r>
              <a:t>If the scaling question comes back: give the 3 listed directions, without committing to a timeline.</a:t>
            </a:r>
          </a:p>
          <a:p>
            <a:r>
              <a:t>Close by reading the key takeaway close to verbatim, then open the floor.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Only papers whose actual idea is used in a slide are listed here, verified directly against each paper's arXiv listing before this talk, not just copied from internal notes.</a:t>
            </a:r>
          </a:p>
          <a:p>
            <a:r>
              <a:t>If asked why no venue is given for MARS-SQL: it is currently an arXiv preprint only, no conference or journal acceptance is listed on arXiv as of this talk.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floor. Keep MARS-SQL and the scalability limits close in mind, they are the two most likely topics.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the audience, invite follow-up questions offline if time ran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231B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1463040"/>
            <a:ext cx="6035040" cy="6035040"/>
          </a:xfrm>
          <a:prstGeom prst="ellipse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52560" y="3246120"/>
            <a:ext cx="2651760" cy="2651760"/>
          </a:xfrm>
          <a:prstGeom prst="ellipse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46920" y="-1188720"/>
            <a:ext cx="2926080" cy="29260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era_logo_fu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320040"/>
            <a:ext cx="1308050" cy="548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22860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FFFFFF"/>
                </a:solidFill>
                <a:latin typeface="Calibri"/>
              </a:rPr>
              <a:t>APPLIED AI / DATA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97480"/>
            <a:ext cx="9601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5200" b="1" i="0">
                <a:solidFill>
                  <a:srgbClr val="FFFFFF"/>
                </a:solidFill>
                <a:latin typeface="Montserrat"/>
              </a:rPr>
              <a:t>RuwaGenBI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794760"/>
            <a:ext cx="8961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Calibri"/>
              </a:rPr>
              <a:t>Generative BI for pharmacies: from natural language to reliable SQL, fully on-device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892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FFFFFF"/>
                </a:solidFill>
                <a:latin typeface="Montserrat"/>
              </a:rPr>
              <a:t>Christ Sagombaye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81160" y="3794760"/>
            <a:ext cx="237744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Calibri"/>
              </a:rPr>
              <a:t>ML Roundtable</a:t>
            </a:r>
          </a:p>
          <a:p>
            <a:pPr algn="ctr"/>
            <a:r>
              <a:rPr sz="1400" b="0" i="0">
                <a:solidFill>
                  <a:srgbClr val="C9C7EE"/>
                </a:solidFill>
                <a:latin typeface="Calibri"/>
              </a:rPr>
              <a:t>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Problem &amp; 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Classic BI locks in the question before the need is even known: business need, then an analyst writes SQL, then a dashboard gets published, then the user consults it.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Any unanticipated question triggers a brand new cycle: a ticket, a developer, a deployment.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Proof point in this very project: the React Dashboard runs 6 pre-written SQL queries. That's classic BI, just with a modern interface.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The Proposition: Generate SQL On the Fly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An LLM translates any natural-language question into SQL at the moment it's asked.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Coverage is no longer “what we had time to build,” it's “everything the data can answer.”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The real risk: an LLM can hallucinate incorrect SQL. The rest of this talk is how trust is built around that unpredictability.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231B1"/>
                </a:solidFill>
                <a:latin typeface="Montserrat"/>
              </a:rPr>
              <a:t>Why This Matters to the Pharmacy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19" y="1874519"/>
            <a:ext cx="5074920" cy="91440"/>
          </a:xfrm>
          <a:prstGeom prst="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19" y="1965960"/>
            <a:ext cx="50749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 i="0">
                <a:solidFill>
                  <a:srgbClr val="3231B1"/>
                </a:solidFill>
                <a:latin typeface="Montserrat"/>
              </a:rPr>
              <a:t>Get answers in seconds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Ask a question and get an answer right away. No ticket, no developer, no waiting.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63640" y="1874519"/>
            <a:ext cx="5074920" cy="91440"/>
          </a:xfrm>
          <a:prstGeom prst="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63640" y="1965960"/>
            <a:ext cx="50749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 i="0">
                <a:solidFill>
                  <a:srgbClr val="3231B1"/>
                </a:solidFill>
                <a:latin typeface="Montserrat"/>
              </a:rPr>
              <a:t>Ask anything, not just the usual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A fixed dashboard only answers a few set questions. Here, you can ask anything about your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19" y="3657600"/>
            <a:ext cx="5074920" cy="91440"/>
          </a:xfrm>
          <a:prstGeom prst="rect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19" y="3749039"/>
            <a:ext cx="50749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6EA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 i="0">
                <a:solidFill>
                  <a:srgbClr val="3231B1"/>
                </a:solidFill>
                <a:latin typeface="Montserrat"/>
              </a:rPr>
              <a:t>Catch problems early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The system warns you about low stock or products about to expire, while there is still time to act.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657600"/>
            <a:ext cx="5074920" cy="91440"/>
          </a:xfrm>
          <a:prstGeom prst="rect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3749039"/>
            <a:ext cx="5074920" cy="1417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08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 bIns="146304"/>
          <a:lstStyle/>
          <a:p>
            <a:pPr algn="ctr"/>
            <a:r>
              <a:rPr sz="1600" b="1" i="0">
                <a:solidFill>
                  <a:srgbClr val="3231B1"/>
                </a:solidFill>
                <a:latin typeface="Montserrat"/>
              </a:rPr>
              <a:t>Safe for every pharmacy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000000"/>
                </a:solidFill>
                <a:latin typeface="Calibri"/>
              </a:rPr>
              <a:t>Each pharmacy only sees its own numbers. This stays true even as more pharmacies join the network.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1">
                <a:solidFill>
                  <a:srgbClr val="3231B1"/>
                </a:solidFill>
                <a:latin typeface="Montserrat"/>
              </a:rPr>
              <a:t>The big change: you don't need a developer to ask a new question. You just ask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Approach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Frontend: React 18 + Vite. Dashboard (fixed SQL), Chat (LLM), Profile. Bilingual FR/EN.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Backend: FastAPI + Python 3.11. Orchestrates a 9-step pipeline. Zero hardcoded business logic.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Local LLM: Ollama runs natively on macOS with qwen2.5-coder:7b, never inside a Docker container. No data ever leaves the machine.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231B1"/>
                </a:solidFill>
                <a:latin typeface="Montserrat"/>
              </a:rPr>
              <a:t>End-to-End Architecture, At a Glance</a:t>
            </a:r>
          </a:p>
        </p:txBody>
      </p:sp>
      <p:sp>
        <p:nvSpPr>
          <p:cNvPr id="5" name="Oval 4"/>
          <p:cNvSpPr/>
          <p:nvPr/>
        </p:nvSpPr>
        <p:spPr>
          <a:xfrm>
            <a:off x="4846320" y="1691640"/>
            <a:ext cx="2377440" cy="5029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3231B1"/>
                </a:solidFill>
                <a:latin typeface="Calibri"/>
              </a:rPr>
              <a:t>Pharmacist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79592" y="2212848"/>
            <a:ext cx="310896" cy="201168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0" y="21945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Arial"/>
              </a:rPr>
              <a:t>asks in plain language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2487168"/>
            <a:ext cx="758952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3231B1"/>
                </a:solidFill>
                <a:latin typeface="Calibri"/>
              </a:rPr>
              <a:t>React Frontend  :  Dashboard  ·  Chat  ·  Profile</a:t>
            </a:r>
          </a:p>
        </p:txBody>
      </p:sp>
      <p:sp>
        <p:nvSpPr>
          <p:cNvPr id="9" name="Down Arrow 8"/>
          <p:cNvSpPr/>
          <p:nvPr/>
        </p:nvSpPr>
        <p:spPr>
          <a:xfrm>
            <a:off x="5879592" y="3072384"/>
            <a:ext cx="310896" cy="201168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305409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88888"/>
                </a:solidFill>
                <a:latin typeface="Arial"/>
              </a:rPr>
              <a:t>REST + streaming (SSE)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79" y="3346704"/>
            <a:ext cx="7589520" cy="658368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Backend  —  9-step pipeline 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240279" y="4023360"/>
            <a:ext cx="7589520" cy="45720"/>
          </a:xfrm>
          <a:prstGeom prst="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2331720" y="4069080"/>
            <a:ext cx="274320" cy="182880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5897879" y="4069080"/>
            <a:ext cx="274320" cy="182880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own Arrow 14"/>
          <p:cNvSpPr/>
          <p:nvPr/>
        </p:nvSpPr>
        <p:spPr>
          <a:xfrm>
            <a:off x="9464040" y="4069080"/>
            <a:ext cx="274320" cy="182880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xagon 15"/>
          <p:cNvSpPr/>
          <p:nvPr/>
        </p:nvSpPr>
        <p:spPr>
          <a:xfrm>
            <a:off x="845820" y="4270248"/>
            <a:ext cx="3246120" cy="777240"/>
          </a:xfrm>
          <a:prstGeom prst="hexagon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Ollama (local LLM)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qwen2.5-coder:7b</a:t>
            </a:r>
          </a:p>
        </p:txBody>
      </p:sp>
      <p:sp>
        <p:nvSpPr>
          <p:cNvPr id="17" name="Cloud 16"/>
          <p:cNvSpPr/>
          <p:nvPr/>
        </p:nvSpPr>
        <p:spPr>
          <a:xfrm>
            <a:off x="4411979" y="4197096"/>
            <a:ext cx="3246120" cy="923544"/>
          </a:xfrm>
          <a:prstGeom prst="cloud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ChromaDB (RAG)</a:t>
            </a:r>
          </a:p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one collection per pharmacy</a:t>
            </a:r>
          </a:p>
        </p:txBody>
      </p:sp>
      <p:sp>
        <p:nvSpPr>
          <p:cNvPr id="18" name="Can 17"/>
          <p:cNvSpPr/>
          <p:nvPr/>
        </p:nvSpPr>
        <p:spPr>
          <a:xfrm>
            <a:off x="7978140" y="4270248"/>
            <a:ext cx="3246120" cy="777240"/>
          </a:xfrm>
          <a:prstGeom prst="can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PostgreSQL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row-level security (RLS)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473184" y="5001768"/>
            <a:ext cx="256032" cy="164592"/>
          </a:xfrm>
          <a:prstGeom prst="downArrow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78140" y="5175503"/>
            <a:ext cx="3246120" cy="38404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00" b="0" i="0">
                <a:solidFill>
                  <a:srgbClr val="3231B1"/>
                </a:solidFill>
                <a:latin typeface="Calibri"/>
              </a:rPr>
              <a:t>dbt: raw → staging → marts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39" y="5678423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  <a:latin typeface="Arial"/>
              </a:rPr>
              <a:t>Ollama and Postgres run entirely on the local machine, no external network call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231B1"/>
                </a:solidFill>
                <a:latin typeface="Montserrat"/>
              </a:rPr>
              <a:t>Data Layer: raw, staging, marts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1560" y="2148840"/>
            <a:ext cx="3017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3231B1"/>
                </a:solidFill>
                <a:latin typeface="Calibri"/>
              </a:rPr>
              <a:t>raw</a:t>
            </a:r>
          </a:p>
          <a:p>
            <a:pPr algn="ctr"/>
            <a:r>
              <a:rPr sz="1400" b="1" i="0">
                <a:solidFill>
                  <a:srgbClr val="3231B1"/>
                </a:solidFill>
                <a:latin typeface="Calibri"/>
              </a:rPr>
              <a:t>ingested, never edited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23944" y="2482596"/>
            <a:ext cx="310896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26279" y="2148840"/>
            <a:ext cx="3017520" cy="8686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3231B1"/>
                </a:solidFill>
                <a:latin typeface="Calibri"/>
              </a:rPr>
              <a:t>staging</a:t>
            </a:r>
          </a:p>
          <a:p>
            <a:pPr algn="ctr"/>
            <a:r>
              <a:rPr sz="1400" b="1" i="0">
                <a:solidFill>
                  <a:srgbClr val="3231B1"/>
                </a:solidFill>
                <a:latin typeface="Calibri"/>
              </a:rPr>
              <a:t>cleaned views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98664" y="2482596"/>
            <a:ext cx="310896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001000" y="2148840"/>
            <a:ext cx="3017520" cy="868680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marts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 tables the LLM queries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9372600" y="3072384"/>
            <a:ext cx="274320" cy="182880"/>
          </a:xfrm>
          <a:prstGeom prst="downArrow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3328415"/>
            <a:ext cx="3017520" cy="457200"/>
          </a:xfrm>
          <a:prstGeom prst="roundRect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row-level security (RLS)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applied on every rebuild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39" y="3977639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19 dbt models total: 10 in staging, 9 in marts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891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000000"/>
                </a:solidFill>
                <a:latin typeface="Calibri"/>
              </a:rPr>
              <a:t>Even if the generated SQL forgets a filter, cross-pharmacy leakage stays structurally impossible.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3231B1"/>
                </a:solidFill>
                <a:latin typeface="Montserrat"/>
              </a:rPr>
              <a:t>The Pipeline: 9 Steps, ~800ms End-to-End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5820" y="1965960"/>
            <a:ext cx="3246120" cy="713232"/>
          </a:xfrm>
          <a:prstGeom prst="roundRect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1. Retrieve</a:t>
            </a:r>
          </a:p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similar examples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11979" y="1965960"/>
            <a:ext cx="3246120" cy="713232"/>
          </a:xfrm>
          <a:prstGeom prst="roundRect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2. Filter</a:t>
            </a:r>
          </a:p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relevant schema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78140" y="1965960"/>
            <a:ext cx="3246120" cy="713232"/>
          </a:xfrm>
          <a:prstGeom prst="round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3. Generate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SQL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78140" y="3063239"/>
            <a:ext cx="3246120" cy="713232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4. Validate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read-only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11979" y="3063239"/>
            <a:ext cx="3246120" cy="713232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5. Execute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+ auto-repair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" y="3063239"/>
            <a:ext cx="3246120" cy="713232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6. Check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coherence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5820" y="4160520"/>
            <a:ext cx="3246120" cy="713232"/>
          </a:xfrm>
          <a:prstGeom prst="roundRect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7. Format</a:t>
            </a:r>
          </a:p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for humans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11979" y="4160520"/>
            <a:ext cx="3246120" cy="713232"/>
          </a:xfrm>
          <a:prstGeom prst="round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8. Generate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insight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8140" y="4160520"/>
            <a:ext cx="3246120" cy="713232"/>
          </a:xfrm>
          <a:prstGeom prst="roundRect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9. Pick</a:t>
            </a:r>
          </a:p>
          <a:p>
            <a:pPr algn="ctr"/>
            <a:r>
              <a:rPr sz="1300" b="1" i="0">
                <a:solidFill>
                  <a:srgbClr val="230871"/>
                </a:solidFill>
                <a:latin typeface="Calibri"/>
              </a:rPr>
              <a:t>chart type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46804" y="2221992"/>
            <a:ext cx="219456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7712964" y="2221992"/>
            <a:ext cx="219456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own Arrow 15"/>
          <p:cNvSpPr/>
          <p:nvPr/>
        </p:nvSpPr>
        <p:spPr>
          <a:xfrm>
            <a:off x="9473184" y="2724911"/>
            <a:ext cx="256032" cy="164592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Left Arrow 16"/>
          <p:cNvSpPr/>
          <p:nvPr/>
        </p:nvSpPr>
        <p:spPr>
          <a:xfrm>
            <a:off x="7383779" y="3319272"/>
            <a:ext cx="219456" cy="201168"/>
          </a:xfrm>
          <a:prstGeom prst="lef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eft Arrow 17"/>
          <p:cNvSpPr/>
          <p:nvPr/>
        </p:nvSpPr>
        <p:spPr>
          <a:xfrm>
            <a:off x="3817620" y="3319272"/>
            <a:ext cx="219456" cy="201168"/>
          </a:xfrm>
          <a:prstGeom prst="lef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2340864" y="3822191"/>
            <a:ext cx="256032" cy="164592"/>
          </a:xfrm>
          <a:prstGeom prst="down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4146804" y="4416551"/>
            <a:ext cx="219456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7712964" y="4416551"/>
            <a:ext cx="219456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34439" y="510235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Steps 3 and 8 call the local LLM (Ollama). Every other step is plain, deterministic code.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Reducing Context Intelligently, No LLM Involved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Example retrieval: one ChromaDB collection per pharmacy, retrieves the 3 closest question/SQL examples by meaning.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Schema filtering: a score blending a little lexical overlap and mostly semantic similarity, computed per table.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Keeps the 15 most relevant tables out of 19, with 3 always included for safety.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2636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888888"/>
                </a:solidFill>
                <a:latin typeface="Arial"/>
              </a:rPr>
              <a:t>Hybrid scoring approach adapted from Tang et al., AP-SQL, EITCE 2025 (arXiv:2506.03598) and Nahid et al., Bidirectional Schema Linking, EACL 2026 Findings (arXiv:2510.14296)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Deterministic Generation, Structural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SQL is generated at zero temperature, to stay as deterministic as possible.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The most critical reminders are placed right before the question itself, the model reads them last and follows them best.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Validation is a real parser, not a keyword blocklist: checks for a single statement, and that it's read-only.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This isn't where real security lives, that comes from read-only database rights and row-level isolation.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3231B1"/>
                </a:solidFill>
                <a:latin typeface="Montserrat"/>
              </a:rPr>
              <a:t>MARS-SQL: Automated Repair via Execution Feedback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39" y="2103120"/>
            <a:ext cx="2423160" cy="777240"/>
          </a:xfrm>
          <a:prstGeom prst="roundRect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SQL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fails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36976" y="2391156"/>
            <a:ext cx="201168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2103120"/>
            <a:ext cx="2423160" cy="777240"/>
          </a:xfrm>
          <a:prstGeom prst="round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Exact error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sent to LLM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34456" y="2391156"/>
            <a:ext cx="201168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172199" y="2103120"/>
            <a:ext cx="2423160" cy="777240"/>
          </a:xfrm>
          <a:prstGeom prst="round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SQL gets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corrected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31935" y="2391156"/>
            <a:ext cx="201168" cy="201168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869680" y="2103120"/>
            <a:ext cx="2423160" cy="777240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Retry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88819" y="3200400"/>
            <a:ext cx="8595359" cy="45720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61319" y="2898648"/>
            <a:ext cx="45720" cy="301752"/>
          </a:xfrm>
          <a:prstGeom prst="rect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Up Arrow 13"/>
          <p:cNvSpPr/>
          <p:nvPr/>
        </p:nvSpPr>
        <p:spPr>
          <a:xfrm>
            <a:off x="1860803" y="2898648"/>
            <a:ext cx="256032" cy="301752"/>
          </a:xfrm>
          <a:prstGeom prst="upArrow">
            <a:avLst/>
          </a:prstGeom>
          <a:solidFill>
            <a:srgbClr val="888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86100" y="3310128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88888"/>
                </a:solidFill>
                <a:latin typeface="Arial"/>
              </a:rPr>
              <a:t>loops back, up to 2 repairs, 3 attempts total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9459467" y="2898648"/>
            <a:ext cx="237744" cy="768095"/>
          </a:xfrm>
          <a:prstGeom prst="downArrow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172199" y="3703320"/>
            <a:ext cx="5120640" cy="548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0" i="0">
                <a:solidFill>
                  <a:srgbClr val="3231B1"/>
                </a:solidFill>
                <a:latin typeface="Calibri"/>
              </a:rPr>
              <a:t>Succeeds  →  result returned</a:t>
            </a:r>
          </a:p>
          <a:p>
            <a:pPr algn="ctr"/>
            <a:r>
              <a:rPr sz="1200" b="0" i="0">
                <a:solidFill>
                  <a:srgbClr val="3231B1"/>
                </a:solidFill>
                <a:latin typeface="Calibri"/>
              </a:rPr>
              <a:t>Still fails after 3 tries  →  clear error shown to 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2636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50" b="0" i="1">
                <a:solidFill>
                  <a:srgbClr val="888888"/>
                </a:solidFill>
                <a:latin typeface="Arial"/>
              </a:rPr>
              <a:t>Multi-agent, execution-feedback idea adapted from Yang et al., MARS-SQL, arXiv:2511.01008 (2025)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Semantic Validation: Coherence, Not Just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An empty result is suspicious, unless the question is about existence.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 question expecting a single value but returning more than 3 ungrouped rows is suspicious.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 “top N” query returning far more than N rows is suspicious too.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Deliberately conservative: prefers letting a borderline case through over needless re-generation.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Reliable Steps Built Around an Unreliable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Formatting: months, days, true/false values. Simple conversions, no LLM dependency.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Insight: a sentence generated at low temperature, then automatically corrected so amount formatting is always right.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Every step adds a reliable safeguard around a model that isn't always reliable. The architecture assumes the LLM will make mistakes, and is built around that.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3231B1"/>
                </a:solidFill>
                <a:latin typeface="Montserrat"/>
              </a:rPr>
              <a:t>The Chart Picks Itself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874519"/>
            <a:ext cx="4572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3231B1"/>
                </a:solidFill>
                <a:latin typeface="Calibri"/>
              </a:rP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874519"/>
            <a:ext cx="64922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Time trend in the question</a:t>
            </a:r>
          </a:p>
        </p:txBody>
      </p:sp>
      <p:sp>
        <p:nvSpPr>
          <p:cNvPr id="7" name="Right Arrow 6"/>
          <p:cNvSpPr/>
          <p:nvPr/>
        </p:nvSpPr>
        <p:spPr>
          <a:xfrm>
            <a:off x="7598664" y="2066543"/>
            <a:ext cx="256032" cy="182880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1874519"/>
            <a:ext cx="3246120" cy="566928"/>
          </a:xfrm>
          <a:prstGeom prst="round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Line chart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569463"/>
            <a:ext cx="4572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3231B1"/>
                </a:solidFill>
                <a:latin typeface="Calibri"/>
              </a:rP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569463"/>
            <a:ext cx="64922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A “LIMIT” in the SQL (top-N)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598664" y="2761487"/>
            <a:ext cx="256032" cy="182880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2569463"/>
            <a:ext cx="3246120" cy="566928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Bar chart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264408"/>
            <a:ext cx="4572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3231B1"/>
                </a:solidFill>
                <a:latin typeface="Calibri"/>
              </a:rP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264408"/>
            <a:ext cx="64922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Ranking / comparison wording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598664" y="3456432"/>
            <a:ext cx="256032" cy="182880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3264408"/>
            <a:ext cx="3246120" cy="566928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Bar chart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3959352"/>
            <a:ext cx="4572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3231B1"/>
                </a:solidFill>
                <a:latin typeface="Calibr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3959352"/>
            <a:ext cx="64922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Composition / breakdown wording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598664" y="4151376"/>
            <a:ext cx="256032" cy="182880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3959352"/>
            <a:ext cx="3246120" cy="566928"/>
          </a:xfrm>
          <a:prstGeom prst="roundRect">
            <a:avLst/>
          </a:prstGeom>
          <a:solidFill>
            <a:srgbClr val="86EA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230871"/>
                </a:solidFill>
                <a:latin typeface="Calibri"/>
              </a:rPr>
              <a:t>Pie chart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4654296"/>
            <a:ext cx="457200" cy="56692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3231B1"/>
                </a:solidFill>
                <a:latin typeface="Calibri"/>
              </a:rPr>
              <a:t>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51560" y="4654296"/>
            <a:ext cx="6492240" cy="566928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0" i="0">
                <a:solidFill>
                  <a:srgbClr val="000000"/>
                </a:solidFill>
                <a:latin typeface="Calibri"/>
              </a:rPr>
              <a:t>None of the above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98664" y="4846320"/>
            <a:ext cx="256032" cy="182880"/>
          </a:xfrm>
          <a:prstGeom prst="rightArrow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01000" y="4654296"/>
            <a:ext cx="3246120" cy="566928"/>
          </a:xfrm>
          <a:prstGeom prst="round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Bar chart (default)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39" y="5394959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Checked top to bottom, first match wins. Entirely Python and regex, zero LLM.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Zero Redeployment to Adjust LLM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All business rules, the ones covering charts, semantic validation, and prompt reminders, live in four readable configuration files.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 single admin endpoint call reloads them live, with nothing restarted.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Adjusting a rule means editing a text file, never touching Python code.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Approach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1440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3231B1"/>
                </a:solidFill>
                <a:latin typeface="Montserrat"/>
              </a:rPr>
              <a:t>Three Independent Security Layers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19" y="1965960"/>
            <a:ext cx="3383280" cy="128016"/>
          </a:xfrm>
          <a:prstGeom prst="rect">
            <a:avLst/>
          </a:prstGeom>
          <a:solidFill>
            <a:srgbClr val="3231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19" y="2093976"/>
            <a:ext cx="33832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231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56032" bIns="182880"/>
          <a:lstStyle/>
          <a:p>
            <a:pPr algn="ctr"/>
            <a:r>
              <a:rPr sz="1700" b="1" i="0">
                <a:solidFill>
                  <a:srgbClr val="3231B1"/>
                </a:solidFill>
                <a:latin typeface="Montserrat"/>
              </a:rPr>
              <a:t>Read-only role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000000"/>
                </a:solidFill>
                <a:latin typeface="Calibri"/>
              </a:rPr>
              <a:t>The pipeline's database account only has read rights, and cannot bypass isolation even if it tried.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399" y="1965960"/>
            <a:ext cx="3383280" cy="128016"/>
          </a:xfrm>
          <a:prstGeom prst="rect">
            <a:avLst/>
          </a:prstGeom>
          <a:solidFill>
            <a:srgbClr val="2C59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399" y="2093976"/>
            <a:ext cx="33832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59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56032" bIns="182880"/>
          <a:lstStyle/>
          <a:p>
            <a:pPr algn="ctr"/>
            <a:r>
              <a:rPr sz="1700" b="1" i="0">
                <a:solidFill>
                  <a:srgbClr val="3231B1"/>
                </a:solidFill>
                <a:latin typeface="Montserrat"/>
              </a:rPr>
              <a:t>Database-enforced isolation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000000"/>
                </a:solidFill>
                <a:latin typeface="Calibri"/>
              </a:rPr>
              <a:t>Each pharmacy only ever sees its own rows.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3879" y="1965960"/>
            <a:ext cx="3383280" cy="128016"/>
          </a:xfrm>
          <a:prstGeom prst="rect">
            <a:avLst/>
          </a:prstGeom>
          <a:solidFill>
            <a:srgbClr val="2308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83879" y="2093976"/>
            <a:ext cx="33832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08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256032" bIns="182880"/>
          <a:lstStyle/>
          <a:p>
            <a:pPr algn="ctr"/>
            <a:r>
              <a:rPr sz="1700" b="1" i="0">
                <a:solidFill>
                  <a:srgbClr val="3231B1"/>
                </a:solidFill>
                <a:latin typeface="Montserrat"/>
              </a:rPr>
              <a:t>A real parser</a:t>
            </a:r>
          </a:p>
          <a:p>
            <a:pPr>
              <a:spcBef>
                <a:spcPts val="1000"/>
              </a:spcBef>
            </a:pPr>
            <a:r>
              <a:rPr sz="1400" b="0" i="0">
                <a:solidFill>
                  <a:srgbClr val="000000"/>
                </a:solidFill>
                <a:latin typeface="Calibri"/>
              </a:rPr>
              <a:t>A single statement, never anything but a read.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974336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3231B1"/>
                </a:solidFill>
                <a:latin typeface="Calibri"/>
              </a:rPr>
              <a:t>None of these three layers depends on the LLM behaving correctly.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50 business questions across 7 categories, a test suite replayed on every change.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Against a model twice the size: same score, but twice as slow. Documented rollback, backed by real numbers.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The chosen model (7 billion parameters) offers the best quality/speed balance, measured, not assumed.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Results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Live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A real question asked in the Chat, walking through the generated SQL, the chart, and the resulting sentence together.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Safety net planned: a screenshot or a short backup video in case Ollama is slow that 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Key takeaway: classic BI trades flexibility for reliability. A raw LLM does the opposite. This system keeps natural-language flexibility while layering deterministic safeguards at every stage.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Honest limitation: Ollama processes one generation at a time, no real multi-user parallelism yet. This remains a lab MVP, not a production deployment, by design.</a:t>
            </a:r>
          </a:p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Future directions: enable Ollama's parallelism, cache frequent questions, move to an inference server with batching.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Conclusions &amp; Future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●  Yang, Zhang, He, Zhou, Fung. “MARS-SQL: A Multi-Agent Reinforcement Learning Framework for Text-to-SQL.” arXiv:2511.01008 (2025). Underlies the execution-feedback repair loop.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●  Tang, Ma, Wu. “AP-SQL: A Resource-Efficient Architecture for Text-to-SQL Translation in Constrained Environments.” EITCE 2025, arXiv:2506.03598. Underlies the schema-filtering score.</a:t>
            </a:r>
          </a:p>
          <a:p>
            <a:pPr>
              <a:spcAft>
                <a:spcPts val="1400"/>
              </a:spcAft>
            </a:pPr>
            <a:r>
              <a:rPr sz="1600" b="0" i="0">
                <a:solidFill>
                  <a:srgbClr val="000000"/>
                </a:solidFill>
                <a:latin typeface="Calibri"/>
              </a:rPr>
              <a:t>●  Nahid, Rafiei, Zhang, Zhang. “Rethinking Schema Linking: A Context-Aware Bidirectional Retrieval Approach for Text-to-SQL.” EACL 2026 (Findings), arXiv:2510.14296. Underlies the schema-filtering score.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0120" y="38404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1">
                <a:solidFill>
                  <a:srgbClr val="3231B1"/>
                </a:solidFill>
                <a:latin typeface="Arial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111556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 i="0">
                <a:solidFill>
                  <a:srgbClr val="3231B1"/>
                </a:solidFill>
                <a:latin typeface="Montserrat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7899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000" b="0" i="0">
                <a:solidFill>
                  <a:srgbClr val="000000"/>
                </a:solidFill>
                <a:latin typeface="Calibri"/>
              </a:rPr>
              <a:t>●  Open floor for questions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888888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ra_ic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384491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017520"/>
            <a:ext cx="100584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4600" b="1" i="0">
                <a:solidFill>
                  <a:srgbClr val="3231B1"/>
                </a:solidFill>
                <a:latin typeface="Montserrat"/>
              </a:rP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