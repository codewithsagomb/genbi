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a:t>
            </a:r>
          </a:p>
          <a:p>
            <a:r>
              <a:t>Accroche : un pharmacien tape une question en français, neuf étapes plus tard il a un graphique et une phrase, sans qu'aucune donnée n'ait quitté la machine, et sans qu'un développeur ait écrit la requête à l'avance.</a:t>
            </a:r>
          </a:p>
          <a:p>
            <a:r>
              <a:t>Se présenter brièvement, planter le décor (pharmacies de Dakar).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Dérouler le cycle dessiné à l'écran : besoin, analyste, dashboard, consultation.</a:t>
            </a:r>
          </a:p>
          <a:p>
            <a:r>
              <a:t>Insister : toute question non anticipée = un ticket, un cycle de développement complet.</a:t>
            </a:r>
          </a:p>
          <a:p>
            <a:r>
              <a:t>Exemple concret dans ce projet même : le Dashboard React fait exactement ça, SQL pré-écrit.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Poser la proposition centrale : générer plutôt qu'écrire à l'avance.</a:t>
            </a:r>
          </a:p>
          <a:p>
            <a:r>
              <a:t>Nommer tout de suite le risque, l'hallucination, pour désamorcer la question qui vient.</a:t>
            </a:r>
          </a:p>
          <a:p>
            <a:r>
              <a:t>Annoncer explicitement : le reste de la présentation répond à comment on construit la confiance.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Décrire les 3 couches rapidement, une phrase chacune.</a:t>
            </a:r>
          </a:p>
          <a:p>
            <a:r>
              <a:t>Insister sur Ollama natif macOS, jamais dans Docker, zéro appel réseau externe.</a:t>
            </a:r>
          </a:p>
          <a:p>
            <a:r>
              <a:t>C'est la base de l'argument confidentialité qui revient plus tard (slide sécurité).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raw, staging, marts : une phrase chacune, ne pas s'attarder.</a:t>
            </a:r>
          </a:p>
          <a:p>
            <a:r>
              <a:t>Point clé : l'isolation est une policy Postgres (RLS), pas un WHERE écrit en Python.</a:t>
            </a:r>
          </a:p>
          <a:p>
            <a:r>
              <a:t>Répéter la phrase de garantie : même si le LLM oublie un filtre, impossible de voir une autre pharmacie.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Vue d'ensemble seulement, ne pas détailler chaque étape ici.</a:t>
            </a:r>
          </a:p>
          <a:p>
            <a:r>
              <a:t>Annoncer qu'on va zoomer sur les points les plus intéressants, pas les 9 en détail.</a:t>
            </a:r>
          </a:p>
          <a:p>
            <a:r>
              <a:t>Donner le chiffre clé : environ 800 ms bout en bout sur une question de référence.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a:t>
            </a:r>
          </a:p>
          <a:p>
            <a:r>
              <a:t>Deux mécanismes bien distincts, insister sur la différence : exemples passés vs tables pertinentes.</a:t>
            </a:r>
          </a:p>
          <a:p>
            <a:r>
              <a:t>Répéter : zéro appel LLM dans le filtrage de schéma, rapide et déterministe.</a:t>
            </a:r>
          </a:p>
          <a:p>
            <a:r>
              <a:t>Chiffre à donner : schéma réduit de 13 200 à 2 600 caractères, gain mesuré sur le taux de succès.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a:t>
            </a:r>
          </a:p>
          <a:p>
            <a:r>
              <a:t>Génération à température 0, expliquer pourquoi : déterminisme, la même question doit produire le même SQL.</a:t>
            </a:r>
          </a:p>
          <a:p>
            <a:r>
              <a:t>Détail à mentionner si public curieux : les rappels critiques sont injectés juste avant la question, position de haute récence, le modèle les lit en dernier et les suit mieux que les règles en tête de prompt.</a:t>
            </a:r>
          </a:p>
          <a:p>
            <a:r>
              <a:t>Validation = un vrai parseur (sqlglot), pas une liste de mots interdits.</a:t>
            </a:r>
          </a:p>
          <a:p>
            <a:r>
              <a:t>Dire explicitement : ce n'est pas la vraie protection de sécurité, ça vient juste après.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MOMENT FORT, prendre le temps ici</a:t>
            </a:r>
          </a:p>
          <a:p>
            <a:r>
              <a:t>Dérouler le cycle lentement : le SQL échoue, l'erreur exacte remonte au LLM, il corrige, nouvel essai.</a:t>
            </a:r>
          </a:p>
          <a:p>
            <a:r>
              <a:t>Insister sur la différence avec un retry aveugle : le modèle voit pourquoi, pas juste qu'il faut réessayer.</a:t>
            </a:r>
          </a:p>
          <a:p>
            <a:r>
              <a:t>Chiffre : jusqu'à 3 tentatives au total (1 initiale plus 2 réparations).</a:t>
            </a:r>
          </a:p>
          <a:p>
            <a:r>
              <a:t>Question probable à anticiper : et si ça échoue les 3 fois ? Réponse : une erreur claire est renvoyée à l'utilisateur, jamais un silence ou un résultat inventé.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Bien distinguer de l'étape précédente : ici le SQL s'exécute sans erreur, la question est différente.</a:t>
            </a:r>
          </a:p>
          <a:p>
            <a:r>
              <a:t>Donner les 3 règles rapidement, sans s'attarder sur chacune.</a:t>
            </a:r>
          </a:p>
          <a:p>
            <a:r>
              <a:t>Insister : volontairement conservateur, préfère laisser passer un cas limite plutôt que re-générer à tort.</a:t>
            </a:r>
          </a:p>
          <a:p>
            <a:r>
              <a:t>C'est la couche que la plupart des systèmes text-to-SQL n'ont pas, à souligner.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Humanisation : conversions Python pures, zéro dépendance au LLM, aller vite ici.</a:t>
            </a:r>
          </a:p>
          <a:p>
            <a:r>
              <a:t>Insight : température faible, puis correction déterministe après coup sur le format des montants.</a:t>
            </a:r>
          </a:p>
          <a:p>
            <a:r>
              <a:t>Message clé à répéter mot pour mot si possible : l'architecture part du principe que le LLM va se tromper, et s'organise autour de ça.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a:t>
            </a:r>
          </a:p>
          <a:p>
            <a:r>
              <a:t>Dérouler la cascade rapidement, une seule phrase par règle.</a:t>
            </a:r>
          </a:p>
          <a:p>
            <a:r>
              <a:t>Répéter : toute cette logique est en Python et en regex, encore zéro LLM ici.</a:t>
            </a:r>
          </a:p>
          <a:p>
            <a:r>
              <a:t>Mentionner que le frontend affine encore le choix ensuite (courbe simple ou combinée).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Les règles métier vivent en configuration, pas en code, insister sur ce choix.</a:t>
            </a:r>
          </a:p>
          <a:p>
            <a:r>
              <a:t>Rechargement à chaud, sans redéploiement : bon exemple pour montrer l'agilité du projet.</a:t>
            </a:r>
          </a:p>
          <a:p>
            <a:r>
              <a:t>Si public technique curieux : chaque règle est un fichier lisible, pas une ligne de code cachée.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Golden set de 50 questions, reproductible à chaque changement, à mentionner brièvement.</a:t>
            </a:r>
          </a:p>
          <a:p>
            <a:r>
              <a:t>Point fort à vraiment appuyer ici : rejet argumenté d'un modèle plus gros, avec des chiffres précis.</a:t>
            </a:r>
          </a:p>
          <a:p>
            <a:r>
              <a:t>Ça montre une discipline d'ingénieur, pas juste on a choisi le plus gros modèle disponible.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a:t>
            </a:r>
          </a:p>
          <a:p>
            <a:r>
              <a:t>Récapituler les 3 couches, une phrase chacune, ne pas re-détailler ce qui a déjà été dit.</a:t>
            </a:r>
          </a:p>
          <a:p>
            <a:r>
              <a:t>Répéter le point le plus important : aucune de ces 3 couches ne dépend de la fiabilité du LLM.</a:t>
            </a:r>
          </a:p>
          <a:p>
            <a:r>
              <a:t>C'est la meilleure réponse si quelqu'un demande et si le modèle se trompe complètement.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à 3:00, BASCULER SUR L'APPLICATION RÉELLE</a:t>
            </a:r>
          </a:p>
          <a:p>
            <a:r>
              <a:t>Poser d'abord une question simple pour montrer le chemin normal (SQL, graphique, insight).</a:t>
            </a:r>
          </a:p>
          <a:p>
            <a:r>
              <a:t>Si le temps permet : poser une question un peu ambiguë pour déclencher MARS-SQL en direct.</a:t>
            </a:r>
          </a:p>
          <a:p>
            <a:r>
              <a:t>Filet de sécurité prévu : capture d'écran ou vidéo courte de secours si Ollama est lent ce jour-là.</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DEUXIÈME MOMENT OÙ LE PUBLIC TECHNIQUE VA CREUSER, prévoir de la marge</a:t>
            </a:r>
          </a:p>
          <a:p>
            <a:r>
              <a:t>Assumer complètement : Ollama mono-thread, pas de vrai parallélisme aujourd'hui.</a:t>
            </a:r>
          </a:p>
          <a:p>
            <a:r>
              <a:t>Contexte à rappeler : MVP de labo, pas une mise en production, c'est un choix assumé.</a:t>
            </a:r>
          </a:p>
          <a:p>
            <a:r>
              <a:t>Si la question du scaling revient : donner les 3 pistes affichées, sans s'engager sur un calendrier.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a:t>
            </a:r>
          </a:p>
          <a:p>
            <a:r>
              <a:t>Lire la phrase affichée à l'écran, presque telle quelle, elle porte la conclusion.</a:t>
            </a:r>
          </a:p>
          <a:p>
            <a:r>
              <a:t>Remercier, ouvrir sur les questions.</a:t>
            </a:r>
          </a:p>
          <a:p>
            <a:r>
              <a:t>Garder en tête les 2 sujets probables : MARS-SQL (slide 9) et la scalabilité (slide 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323E"/>
        </a:solidFill>
        <a:effectLst/>
      </p:bgPr>
    </p:bg>
    <p:spTree>
      <p:nvGrpSpPr>
        <p:cNvPr id="1" name=""/>
        <p:cNvGrpSpPr/>
        <p:nvPr/>
      </p:nvGrpSpPr>
      <p:grpSpPr/>
      <p:sp>
        <p:nvSpPr>
          <p:cNvPr id="2" name="TextBox 1"/>
          <p:cNvSpPr txBox="1"/>
          <p:nvPr/>
        </p:nvSpPr>
        <p:spPr>
          <a:xfrm>
            <a:off x="822960" y="2103120"/>
            <a:ext cx="9144000" cy="457200"/>
          </a:xfrm>
          <a:prstGeom prst="rect">
            <a:avLst/>
          </a:prstGeom>
          <a:noFill/>
        </p:spPr>
        <p:txBody>
          <a:bodyPr wrap="square">
            <a:spAutoFit/>
          </a:bodyPr>
          <a:lstStyle/>
          <a:p>
            <a:r>
              <a:rPr sz="1300" b="1" i="0">
                <a:solidFill>
                  <a:srgbClr val="E4B27C"/>
                </a:solidFill>
                <a:latin typeface="Avenir Next"/>
              </a:rPr>
              <a:t>PRÉSENTATION TECHNIQUE · END-TO-END</a:t>
            </a:r>
          </a:p>
        </p:txBody>
      </p:sp>
      <p:sp>
        <p:nvSpPr>
          <p:cNvPr id="3" name="TextBox 2"/>
          <p:cNvSpPr txBox="1"/>
          <p:nvPr/>
        </p:nvSpPr>
        <p:spPr>
          <a:xfrm>
            <a:off x="777240" y="2514600"/>
            <a:ext cx="10058400" cy="1463040"/>
          </a:xfrm>
          <a:prstGeom prst="rect">
            <a:avLst/>
          </a:prstGeom>
          <a:noFill/>
        </p:spPr>
        <p:txBody>
          <a:bodyPr wrap="square">
            <a:spAutoFit/>
          </a:bodyPr>
          <a:lstStyle/>
          <a:p>
            <a:r>
              <a:rPr sz="6000" b="1" i="0">
                <a:solidFill>
                  <a:srgbClr val="E8E6DC"/>
                </a:solidFill>
                <a:latin typeface="Georgia"/>
              </a:rPr>
              <a:t>RuwaGenBI</a:t>
            </a:r>
          </a:p>
        </p:txBody>
      </p:sp>
      <p:sp>
        <p:nvSpPr>
          <p:cNvPr id="4" name="TextBox 3"/>
          <p:cNvSpPr txBox="1"/>
          <p:nvPr/>
        </p:nvSpPr>
        <p:spPr>
          <a:xfrm>
            <a:off x="822960" y="3794760"/>
            <a:ext cx="8229600" cy="1097280"/>
          </a:xfrm>
          <a:prstGeom prst="rect">
            <a:avLst/>
          </a:prstGeom>
          <a:noFill/>
        </p:spPr>
        <p:txBody>
          <a:bodyPr wrap="square">
            <a:spAutoFit/>
          </a:bodyPr>
          <a:lstStyle/>
          <a:p>
            <a:r>
              <a:rPr sz="2000" b="0" i="0">
                <a:solidFill>
                  <a:srgbClr val="E8E6DC"/>
                </a:solidFill>
                <a:latin typeface="Avenir Next"/>
              </a:rPr>
              <a:t>BI générative pour pharmacies à Dakar. Du langage naturel au SQL fiable, entièrement en local.</a:t>
            </a:r>
          </a:p>
        </p:txBody>
      </p:sp>
      <p:sp>
        <p:nvSpPr>
          <p:cNvPr id="5" name="TextBox 4"/>
          <p:cNvSpPr txBox="1"/>
          <p:nvPr/>
        </p:nvSpPr>
        <p:spPr>
          <a:xfrm>
            <a:off x="822960" y="5760720"/>
            <a:ext cx="10058400" cy="457200"/>
          </a:xfrm>
          <a:prstGeom prst="rect">
            <a:avLst/>
          </a:prstGeom>
          <a:noFill/>
        </p:spPr>
        <p:txBody>
          <a:bodyPr wrap="square">
            <a:spAutoFit/>
          </a:bodyPr>
          <a:lstStyle/>
          <a:p>
            <a:r>
              <a:rPr sz="1200" b="0" i="0">
                <a:solidFill>
                  <a:srgbClr val="B8B6AC"/>
                </a:solidFill>
                <a:latin typeface="Avenir Next"/>
              </a:rPr>
              <a:t>FastAPI · React · Ollama · Postgres · dbt        Zéro fuite de données</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9BA39A"/>
                </a:solidFill>
                <a:latin typeface="Avenir Next"/>
              </a:rPr>
              <a:t>01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LE CONTEXTE</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La BI classique fige la question avant de connaître le besoin</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Besoin métier, puis analyste qui écrit le SQL, puis dashboard publié, puis l'utilisateur consulte.</a:t>
            </a:r>
          </a:p>
          <a:p>
            <a:pPr>
              <a:spcAft>
                <a:spcPts val="1400"/>
              </a:spcAft>
            </a:pPr>
            <a:r>
              <a:rPr sz="1800" b="0" i="0">
                <a:solidFill>
                  <a:srgbClr val="1C2521"/>
                </a:solidFill>
                <a:latin typeface="Avenir Next"/>
              </a:rPr>
              <a:t>•  Toute question non anticipée déclenche un nouveau cycle : ticket, développeur, déploiement.</a:t>
            </a:r>
          </a:p>
          <a:p>
            <a:pPr>
              <a:spcAft>
                <a:spcPts val="1400"/>
              </a:spcAft>
            </a:pPr>
            <a:r>
              <a:rPr sz="1800" b="0" i="0">
                <a:solidFill>
                  <a:srgbClr val="1C2521"/>
                </a:solidFill>
                <a:latin typeface="Avenir Next"/>
              </a:rPr>
              <a:t>•  L'utilisateur reste prisonnier de ce qui a été construit à l'avance.</a:t>
            </a:r>
          </a:p>
        </p:txBody>
      </p:sp>
      <p:sp>
        <p:nvSpPr>
          <p:cNvPr id="5" name="Rectangle 4"/>
          <p:cNvSpPr/>
          <p:nvPr/>
        </p:nvSpPr>
        <p:spPr>
          <a:xfrm>
            <a:off x="822960" y="512064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Dans ce projet même, le Dashboard React interroge 6 requêtes SQL pré-écrites. C'est de la BI classique, avec une interface moderne.</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02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LA PROPOSITION</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Générer le SQL à la volée, pas l'écrire à l'avance</a:t>
            </a:r>
          </a:p>
        </p:txBody>
      </p:sp>
      <p:sp>
        <p:nvSpPr>
          <p:cNvPr id="4" name="TextBox 3"/>
          <p:cNvSpPr txBox="1"/>
          <p:nvPr/>
        </p:nvSpPr>
        <p:spPr>
          <a:xfrm>
            <a:off x="822960" y="246888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Un LLM traduit n'importe quelle question en langage naturel vers du SQL, au moment où elle est posée.</a:t>
            </a:r>
          </a:p>
          <a:p>
            <a:pPr>
              <a:spcAft>
                <a:spcPts val="1400"/>
              </a:spcAft>
            </a:pPr>
            <a:r>
              <a:rPr sz="1800" b="0" i="0">
                <a:solidFill>
                  <a:srgbClr val="1C2521"/>
                </a:solidFill>
                <a:latin typeface="Avenir Next"/>
              </a:rPr>
              <a:t>•  La couverture n'est plus ce qu'on a eu le temps de construire, mais tout ce que les données permettent de répondre.</a:t>
            </a:r>
          </a:p>
        </p:txBody>
      </p:sp>
      <p:sp>
        <p:nvSpPr>
          <p:cNvPr id="5" name="Rectangle 4"/>
          <p:cNvSpPr/>
          <p:nvPr/>
        </p:nvSpPr>
        <p:spPr>
          <a:xfrm>
            <a:off x="822960" y="475488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Le vrai piège : un LLM peut halluciner du SQL faux. Le reste de la présentation, c'est comment on construit la confiance autour de cette imprévisibilité.</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03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VUE D'ENSEMBLE</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Trois couches, un LLM local, une base gardée par RLS</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Frontend : React 18 et Vite. Dashboard (SQL fixe), Chat (LLM), Profil. Français et anglais.</a:t>
            </a:r>
          </a:p>
          <a:p>
            <a:pPr>
              <a:spcAft>
                <a:spcPts val="1400"/>
              </a:spcAft>
            </a:pPr>
            <a:r>
              <a:rPr sz="1800" b="0" i="0">
                <a:solidFill>
                  <a:srgbClr val="1C2521"/>
                </a:solidFill>
                <a:latin typeface="Avenir Next"/>
              </a:rPr>
              <a:t>•  Backend : FastAPI et Python 3.11. Orchestration du pipeline en 9 étapes. Aucune logique métier codée en dur.</a:t>
            </a:r>
          </a:p>
          <a:p>
            <a:pPr>
              <a:spcAft>
                <a:spcPts val="1400"/>
              </a:spcAft>
            </a:pPr>
            <a:r>
              <a:rPr sz="1800" b="0" i="0">
                <a:solidFill>
                  <a:srgbClr val="1C2521"/>
                </a:solidFill>
                <a:latin typeface="Avenir Next"/>
              </a:rPr>
              <a:t>•  LLM local : Ollama tourne nativement sur macOS avec qwen2.5-coder:7b, jamais dans un container Docker.</a:t>
            </a:r>
          </a:p>
        </p:txBody>
      </p:sp>
      <p:sp>
        <p:nvSpPr>
          <p:cNvPr id="5" name="Rectangle 4"/>
          <p:cNvSpPr/>
          <p:nvPr/>
        </p:nvSpPr>
        <p:spPr>
          <a:xfrm>
            <a:off x="822960" y="521208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Concrètement, aucune question posée ni aucune donnée ne sort jamais de la machine.</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04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2C6D62"/>
                </a:solidFill>
                <a:latin typeface="Avenir Next"/>
              </a:rPr>
              <a:t>LA COUCHE DE DONNÉES</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De raw à staging à marts, une isolation qui ne dépend pas du code</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19 modèles dbt au total : 10 en staging, 9 en marts.</a:t>
            </a:r>
          </a:p>
          <a:p>
            <a:pPr>
              <a:spcAft>
                <a:spcPts val="1400"/>
              </a:spcAft>
            </a:pPr>
            <a:r>
              <a:rPr sz="1800" b="0" i="0">
                <a:solidFill>
                  <a:srgbClr val="1C2521"/>
                </a:solidFill>
                <a:latin typeface="Avenir Next"/>
              </a:rPr>
              <a:t>•  Chaque table de faits reçoit une règle de sécurité au niveau de la ligne : une vente n'est visible que si son identifiant de pharmacie correspond à la session en cours.</a:t>
            </a:r>
          </a:p>
          <a:p>
            <a:pPr>
              <a:spcAft>
                <a:spcPts val="1400"/>
              </a:spcAft>
            </a:pPr>
            <a:r>
              <a:rPr sz="1800" b="0" i="0">
                <a:solidFill>
                  <a:srgbClr val="1C2521"/>
                </a:solidFill>
                <a:latin typeface="Avenir Next"/>
              </a:rPr>
              <a:t>•  Cette règle est appliquée automatiquement à chaque reconstruction des tables, sans intervention manuelle.</a:t>
            </a:r>
          </a:p>
        </p:txBody>
      </p:sp>
      <p:sp>
        <p:nvSpPr>
          <p:cNvPr id="5" name="Rectangle 4"/>
          <p:cNvSpPr/>
          <p:nvPr/>
        </p:nvSpPr>
        <p:spPr>
          <a:xfrm>
            <a:off x="822960" y="521208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Même si le SQL généré oublie un filtre, la fuite entre pharmacies reste structurellement impossible.</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05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LE PIPELINE</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9 étapes, environ 800 ms, zéro donnée qui quitte la machine</a:t>
            </a:r>
          </a:p>
        </p:txBody>
      </p:sp>
      <p:sp>
        <p:nvSpPr>
          <p:cNvPr id="4" name="TextBox 3"/>
          <p:cNvSpPr txBox="1"/>
          <p:nvPr/>
        </p:nvSpPr>
        <p:spPr>
          <a:xfrm>
            <a:off x="822960" y="2286000"/>
            <a:ext cx="10424160" cy="3840480"/>
          </a:xfrm>
          <a:prstGeom prst="rect">
            <a:avLst/>
          </a:prstGeom>
          <a:noFill/>
        </p:spPr>
        <p:txBody>
          <a:bodyPr wrap="square">
            <a:spAutoFit/>
          </a:bodyPr>
          <a:lstStyle/>
          <a:p>
            <a:pPr>
              <a:spcAft>
                <a:spcPts val="1400"/>
              </a:spcAft>
            </a:pPr>
            <a:r>
              <a:rPr sz="1600" b="0" i="0">
                <a:solidFill>
                  <a:srgbClr val="1C2521"/>
                </a:solidFill>
                <a:latin typeface="Avenir Next"/>
              </a:rPr>
              <a:t>•  1. Recherche d'exemples similaires (ChromaDB)</a:t>
            </a:r>
          </a:p>
          <a:p>
            <a:pPr>
              <a:spcAft>
                <a:spcPts val="1400"/>
              </a:spcAft>
            </a:pPr>
            <a:r>
              <a:rPr sz="1600" b="0" i="0">
                <a:solidFill>
                  <a:srgbClr val="1C2521"/>
                </a:solidFill>
                <a:latin typeface="Avenir Next"/>
              </a:rPr>
              <a:t>•  2. Filtrage du schéma pertinent (Python pur)</a:t>
            </a:r>
          </a:p>
          <a:p>
            <a:pPr>
              <a:spcAft>
                <a:spcPts val="1400"/>
              </a:spcAft>
            </a:pPr>
            <a:r>
              <a:rPr sz="1600" b="0" i="0">
                <a:solidFill>
                  <a:srgbClr val="1C2521"/>
                </a:solidFill>
                <a:latin typeface="Avenir Next"/>
              </a:rPr>
              <a:t>•  3. Génération du SQL par le modèle (Ollama, température 0.0)</a:t>
            </a:r>
          </a:p>
          <a:p>
            <a:pPr>
              <a:spcAft>
                <a:spcPts val="1400"/>
              </a:spcAft>
            </a:pPr>
            <a:r>
              <a:rPr sz="1600" b="0" i="0">
                <a:solidFill>
                  <a:srgbClr val="1C2521"/>
                </a:solidFill>
                <a:latin typeface="Avenir Next"/>
              </a:rPr>
              <a:t>•  4. Validation du SQL, lecture seule (sqlglot)</a:t>
            </a:r>
          </a:p>
          <a:p>
            <a:pPr>
              <a:spcAft>
                <a:spcPts val="1400"/>
              </a:spcAft>
            </a:pPr>
            <a:r>
              <a:rPr sz="1600" b="0" i="0">
                <a:solidFill>
                  <a:srgbClr val="1C2521"/>
                </a:solidFill>
                <a:latin typeface="Avenir Next"/>
              </a:rPr>
              <a:t>•  5. Exécution, réparation automatique si besoin (Postgres, RLS)</a:t>
            </a:r>
          </a:p>
          <a:p>
            <a:pPr>
              <a:spcAft>
                <a:spcPts val="1400"/>
              </a:spcAft>
            </a:pPr>
            <a:r>
              <a:rPr sz="1600" b="0" i="0">
                <a:solidFill>
                  <a:srgbClr val="1C2521"/>
                </a:solidFill>
                <a:latin typeface="Avenir Next"/>
              </a:rPr>
              <a:t>•  6. Vérification de la cohérence (Python pur)</a:t>
            </a:r>
          </a:p>
          <a:p>
            <a:pPr>
              <a:spcAft>
                <a:spcPts val="1400"/>
              </a:spcAft>
            </a:pPr>
            <a:r>
              <a:rPr sz="1600" b="0" i="0">
                <a:solidFill>
                  <a:srgbClr val="1C2521"/>
                </a:solidFill>
                <a:latin typeface="Avenir Next"/>
              </a:rPr>
              <a:t>•  7. Mise en forme lisible (Python pur)</a:t>
            </a:r>
          </a:p>
          <a:p>
            <a:pPr>
              <a:spcAft>
                <a:spcPts val="1400"/>
              </a:spcAft>
            </a:pPr>
            <a:r>
              <a:rPr sz="1600" b="0" i="0">
                <a:solidFill>
                  <a:srgbClr val="1C2521"/>
                </a:solidFill>
                <a:latin typeface="Avenir Next"/>
              </a:rPr>
              <a:t>•  8. Rédaction de l'insight (Ollama, température 0.1)</a:t>
            </a:r>
          </a:p>
          <a:p>
            <a:pPr>
              <a:spcAft>
                <a:spcPts val="1400"/>
              </a:spcAft>
            </a:pPr>
            <a:r>
              <a:rPr sz="1600" b="0" i="0">
                <a:solidFill>
                  <a:srgbClr val="1C2521"/>
                </a:solidFill>
                <a:latin typeface="Avenir Next"/>
              </a:rPr>
              <a:t>•  9. Choix automatique du graphique (Python pur)</a:t>
            </a:r>
          </a:p>
        </p:txBody>
      </p:sp>
      <p:sp>
        <p:nvSpPr>
          <p:cNvPr id="5" name="TextBox 4"/>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06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ÉTAPES 1 ET 2</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Réduire intelligemment le contexte, sans LLM</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Recherche d'exemples : une collection par pharmacie dans ChromaDB, les 3 exemples question et SQL les plus proches en sens.</a:t>
            </a:r>
          </a:p>
          <a:p>
            <a:pPr>
              <a:spcAft>
                <a:spcPts val="1400"/>
              </a:spcAft>
            </a:pPr>
            <a:r>
              <a:rPr sz="1800" b="0" i="0">
                <a:solidFill>
                  <a:srgbClr val="1C2521"/>
                </a:solidFill>
                <a:latin typeface="Avenir Next"/>
              </a:rPr>
              <a:t>•  Filtrage du schéma : un score qui combine un peu de lexical et surtout de la similarité de sens, calculé par table.</a:t>
            </a:r>
          </a:p>
          <a:p>
            <a:pPr>
              <a:spcAft>
                <a:spcPts val="1400"/>
              </a:spcAft>
            </a:pPr>
            <a:r>
              <a:rPr sz="1800" b="0" i="0">
                <a:solidFill>
                  <a:srgbClr val="1C2521"/>
                </a:solidFill>
                <a:latin typeface="Avenir Next"/>
              </a:rPr>
              <a:t>•  Garde les 15 tables les plus pertinentes sur 19, dont 3 toujours incluses par sécurité.</a:t>
            </a:r>
          </a:p>
        </p:txBody>
      </p:sp>
      <p:sp>
        <p:nvSpPr>
          <p:cNvPr id="5" name="Rectangle 4"/>
          <p:cNvSpPr/>
          <p:nvPr/>
        </p:nvSpPr>
        <p:spPr>
          <a:xfrm>
            <a:off x="822960" y="521208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Aucun appel au LLM dans ce filtrage : un calcul simple, tenu en mémoire, recalculé une seule fois au démarrage.</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07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ÉTAPES 3 ET 4</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Génération déterministe, validation structurelle</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Le SQL est généré à température zéro, pour rester le plus déterministe possible.</a:t>
            </a:r>
          </a:p>
          <a:p>
            <a:pPr>
              <a:spcAft>
                <a:spcPts val="1400"/>
              </a:spcAft>
            </a:pPr>
            <a:r>
              <a:rPr sz="1800" b="0" i="0">
                <a:solidFill>
                  <a:srgbClr val="1C2521"/>
                </a:solidFill>
                <a:latin typeface="Avenir Next"/>
              </a:rPr>
              <a:t>•  Les rappels les plus importants sont ajoutés juste avant la question elle-même, le modèle les lit en dernier et les suit mieux.</a:t>
            </a:r>
          </a:p>
          <a:p>
            <a:pPr>
              <a:spcAft>
                <a:spcPts val="1400"/>
              </a:spcAft>
            </a:pPr>
            <a:r>
              <a:rPr sz="1800" b="0" i="0">
                <a:solidFill>
                  <a:srgbClr val="1C2521"/>
                </a:solidFill>
                <a:latin typeface="Avenir Next"/>
              </a:rPr>
              <a:t>•  La validation est un vrai parseur : une seule instruction, et bien une lecture, jamais une écriture.</a:t>
            </a:r>
          </a:p>
        </p:txBody>
      </p:sp>
      <p:sp>
        <p:nvSpPr>
          <p:cNvPr id="5" name="Rectangle 4"/>
          <p:cNvSpPr/>
          <p:nvPr/>
        </p:nvSpPr>
        <p:spPr>
          <a:xfrm>
            <a:off x="822960" y="521208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Ce n'est pas là que se joue la vraie sécurité. Elle vient des droits en lecture seule sur la base et de l'isolation au niveau des lignes.</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08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ÉTAPE 5, MOMENT FORT</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MARS-SQL, la réparation automatique par feedback d'exécution</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Le SQL échoue.</a:t>
            </a:r>
          </a:p>
          <a:p>
            <a:pPr>
              <a:spcAft>
                <a:spcPts val="1400"/>
              </a:spcAft>
            </a:pPr>
            <a:r>
              <a:rPr sz="1800" b="0" i="0">
                <a:solidFill>
                  <a:srgbClr val="1C2521"/>
                </a:solidFill>
                <a:latin typeface="Avenir Next"/>
              </a:rPr>
              <a:t>•  L'erreur exacte remonte au LLM.</a:t>
            </a:r>
          </a:p>
          <a:p>
            <a:pPr>
              <a:spcAft>
                <a:spcPts val="1400"/>
              </a:spcAft>
            </a:pPr>
            <a:r>
              <a:rPr sz="1800" b="0" i="0">
                <a:solidFill>
                  <a:srgbClr val="1C2521"/>
                </a:solidFill>
                <a:latin typeface="Avenir Next"/>
              </a:rPr>
              <a:t>•  Le SQL est corrigé.</a:t>
            </a:r>
          </a:p>
          <a:p>
            <a:pPr>
              <a:spcAft>
                <a:spcPts val="1400"/>
              </a:spcAft>
            </a:pPr>
            <a:r>
              <a:rPr sz="1800" b="0" i="0">
                <a:solidFill>
                  <a:srgbClr val="1C2521"/>
                </a:solidFill>
                <a:latin typeface="Avenir Next"/>
              </a:rPr>
              <a:t>•  Nouvel essai, jusqu'à 3 au total.</a:t>
            </a:r>
          </a:p>
        </p:txBody>
      </p:sp>
      <p:sp>
        <p:nvSpPr>
          <p:cNvPr id="5" name="Rectangle 4"/>
          <p:cNvSpPr/>
          <p:nvPr/>
        </p:nvSpPr>
        <p:spPr>
          <a:xfrm>
            <a:off x="822960" y="502920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La différence avec un simple nouvel essai : le modèle voit pourquoi ça a échoué, pas seulement qu'il faut réessayer à l'aveugle.</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09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2C6D62"/>
                </a:solidFill>
                <a:latin typeface="Avenir Next"/>
              </a:rPr>
              <a:t>ÉTAPE 6</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La cohérence du résultat, pas seulement sa syntaxe</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Une réponse vide est suspecte, sauf pour une question d'existence.</a:t>
            </a:r>
          </a:p>
          <a:p>
            <a:pPr>
              <a:spcAft>
                <a:spcPts val="1400"/>
              </a:spcAft>
            </a:pPr>
            <a:r>
              <a:rPr sz="1800" b="0" i="0">
                <a:solidFill>
                  <a:srgbClr val="1C2521"/>
                </a:solidFill>
                <a:latin typeface="Avenir Next"/>
              </a:rPr>
              <a:t>•  Une question qui attend une seule valeur mais reçoit plus de 3 lignes sans regroupement, c'est suspect.</a:t>
            </a:r>
          </a:p>
          <a:p>
            <a:pPr>
              <a:spcAft>
                <a:spcPts val="1400"/>
              </a:spcAft>
            </a:pPr>
            <a:r>
              <a:rPr sz="1800" b="0" i="0">
                <a:solidFill>
                  <a:srgbClr val="1C2521"/>
                </a:solidFill>
                <a:latin typeface="Avenir Next"/>
              </a:rPr>
              <a:t>•  Un top N qui renvoie beaucoup plus que N lignes, c'est suspect aussi.</a:t>
            </a:r>
          </a:p>
        </p:txBody>
      </p:sp>
      <p:sp>
        <p:nvSpPr>
          <p:cNvPr id="5" name="Rectangle 4"/>
          <p:cNvSpPr/>
          <p:nvPr/>
        </p:nvSpPr>
        <p:spPr>
          <a:xfrm>
            <a:off x="822960" y="521208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Volontairement conservateur : préfère laisser passer un cas limite plutôt que re-générer inutilement.</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ÉTAPES 7 ET 8</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Du solide construit autour de l'incertain</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Mise en forme lisible : mois, jours, valeurs vrai ou faux. De simples conversions, sans dépendance au LLM.</a:t>
            </a:r>
          </a:p>
          <a:p>
            <a:pPr>
              <a:spcAft>
                <a:spcPts val="1400"/>
              </a:spcAft>
            </a:pPr>
            <a:r>
              <a:rPr sz="1800" b="0" i="0">
                <a:solidFill>
                  <a:srgbClr val="1C2521"/>
                </a:solidFill>
                <a:latin typeface="Avenir Next"/>
              </a:rPr>
              <a:t>•  L'insight : une phrase générée à faible température, puis corrigée automatiquement pour que le format des montants soit toujours correct.</a:t>
            </a:r>
          </a:p>
        </p:txBody>
      </p:sp>
      <p:sp>
        <p:nvSpPr>
          <p:cNvPr id="5" name="Rectangle 4"/>
          <p:cNvSpPr/>
          <p:nvPr/>
        </p:nvSpPr>
        <p:spPr>
          <a:xfrm>
            <a:off x="822960" y="475488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Chaque étape ajoute une sécurité fiable autour d'un modèle qui ne l'est pas toujours. L'architecture part du principe que le LLM va se tromper.</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ÉTAPE 9</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Le graphique se choisit tout seul</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Tendance dans le temps → courbe</a:t>
            </a:r>
          </a:p>
          <a:p>
            <a:pPr>
              <a:spcAft>
                <a:spcPts val="1400"/>
              </a:spcAft>
            </a:pPr>
            <a:r>
              <a:rPr sz="1800" b="0" i="0">
                <a:solidFill>
                  <a:srgbClr val="1C2521"/>
                </a:solidFill>
                <a:latin typeface="Avenir Next"/>
              </a:rPr>
              <a:t>•  Classement limité → barres</a:t>
            </a:r>
          </a:p>
          <a:p>
            <a:pPr>
              <a:spcAft>
                <a:spcPts val="1400"/>
              </a:spcAft>
            </a:pPr>
            <a:r>
              <a:rPr sz="1800" b="0" i="0">
                <a:solidFill>
                  <a:srgbClr val="1C2521"/>
                </a:solidFill>
                <a:latin typeface="Avenir Next"/>
              </a:rPr>
              <a:t>•  Comparaison → barres</a:t>
            </a:r>
          </a:p>
          <a:p>
            <a:pPr>
              <a:spcAft>
                <a:spcPts val="1400"/>
              </a:spcAft>
            </a:pPr>
            <a:r>
              <a:rPr sz="1800" b="0" i="0">
                <a:solidFill>
                  <a:srgbClr val="1C2521"/>
                </a:solidFill>
                <a:latin typeface="Avenir Next"/>
              </a:rPr>
              <a:t>•  Répartition → camembert</a:t>
            </a:r>
          </a:p>
          <a:p>
            <a:pPr>
              <a:spcAft>
                <a:spcPts val="1400"/>
              </a:spcAft>
            </a:pPr>
            <a:r>
              <a:rPr sz="1800" b="0" i="0">
                <a:solidFill>
                  <a:srgbClr val="1C2521"/>
                </a:solidFill>
                <a:latin typeface="Avenir Next"/>
              </a:rPr>
              <a:t>•  Sinon → barres, par défaut</a:t>
            </a:r>
          </a:p>
        </p:txBody>
      </p:sp>
      <p:sp>
        <p:nvSpPr>
          <p:cNvPr id="5" name="Rectangle 4"/>
          <p:cNvSpPr/>
          <p:nvPr/>
        </p:nvSpPr>
        <p:spPr>
          <a:xfrm>
            <a:off x="822960" y="5394960"/>
            <a:ext cx="10424160" cy="1005840"/>
          </a:xfrm>
          <a:prstGeom prst="rect">
            <a:avLst/>
          </a:prstGeom>
          <a:solidFill>
            <a:srgbClr val="E4E7DD"/>
          </a:solidFill>
          <a:ln w="19050">
            <a:solidFill>
              <a:srgbClr val="B96E23"/>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500" b="0" i="1">
                <a:solidFill>
                  <a:srgbClr val="1C2521"/>
                </a:solidFill>
                <a:latin typeface="Georgia"/>
              </a:rPr>
              <a:t>Une cascade de règles classées par priorité, entièrement calculée à l'avance, sans passer par le LLM.</a:t>
            </a:r>
          </a:p>
        </p:txBody>
      </p:sp>
      <p:sp>
        <p:nvSpPr>
          <p:cNvPr id="6" name="TextBox 5"/>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2C6D62"/>
                </a:solidFill>
                <a:latin typeface="Avenir Next"/>
              </a:rPr>
              <a:t>ARCHITECTURE</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Zéro redéploiement pour ajuster le comportement du LLM</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Toutes les règles métier vivent dans quatre fichiers de configuration lisibles.</a:t>
            </a:r>
          </a:p>
          <a:p>
            <a:pPr>
              <a:spcAft>
                <a:spcPts val="1400"/>
              </a:spcAft>
            </a:pPr>
            <a:r>
              <a:rPr sz="1800" b="0" i="0">
                <a:solidFill>
                  <a:srgbClr val="1C2521"/>
                </a:solidFill>
                <a:latin typeface="Avenir Next"/>
              </a:rPr>
              <a:t>•  Un simple appel à un point d'administration les recharge à chaud, sans redémarrer quoi que ce soit.</a:t>
            </a:r>
          </a:p>
          <a:p>
            <a:pPr>
              <a:spcAft>
                <a:spcPts val="1400"/>
              </a:spcAft>
            </a:pPr>
            <a:r>
              <a:rPr sz="1800" b="0" i="0">
                <a:solidFill>
                  <a:srgbClr val="1C2521"/>
                </a:solidFill>
                <a:latin typeface="Avenir Next"/>
              </a:rPr>
              <a:t>•  Ajuster une règle revient à éditer un fichier texte, jamais à toucher au code Python.</a:t>
            </a:r>
          </a:p>
        </p:txBody>
      </p:sp>
      <p:sp>
        <p:nvSpPr>
          <p:cNvPr id="5" name="TextBox 4"/>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DISCIPLINE QUALITÉ</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Benchmarker au lieu de supposer</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50 questions métier réparties en 7 catégories, un test rejoué à chaque changement.</a:t>
            </a:r>
          </a:p>
          <a:p>
            <a:pPr>
              <a:spcAft>
                <a:spcPts val="1400"/>
              </a:spcAft>
            </a:pPr>
            <a:r>
              <a:rPr sz="1800" b="0" i="0">
                <a:solidFill>
                  <a:srgbClr val="1C2521"/>
                </a:solidFill>
                <a:latin typeface="Avenir Next"/>
              </a:rPr>
              <a:t>•  Face à un modèle deux fois plus gros : même score, mais deux fois plus lent. Retour en arrière assumé, chiffres à l'appui.</a:t>
            </a:r>
          </a:p>
          <a:p>
            <a:pPr>
              <a:spcAft>
                <a:spcPts val="1400"/>
              </a:spcAft>
            </a:pPr>
            <a:r>
              <a:rPr sz="1800" b="0" i="0">
                <a:solidFill>
                  <a:srgbClr val="1C2521"/>
                </a:solidFill>
                <a:latin typeface="Avenir Next"/>
              </a:rPr>
              <a:t>•  Le modèle retenu (7 milliards de paramètres) offre le meilleur équilibre entre qualité et rapidité, mesuré et non supposé.</a:t>
            </a:r>
          </a:p>
        </p:txBody>
      </p:sp>
      <p:sp>
        <p:nvSpPr>
          <p:cNvPr id="5" name="TextBox 4"/>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2C6D62"/>
                </a:solidFill>
                <a:latin typeface="Avenir Next"/>
              </a:rPr>
              <a:t>SÉCURITÉ</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Trois couches indépendantes, aucune ne dépend du LLM</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Un rôle en lecture seule : le compte utilisé par le pipeline n'a que des droits de lecture, et ne peut pas contourner l'isolation.</a:t>
            </a:r>
          </a:p>
          <a:p>
            <a:pPr>
              <a:spcAft>
                <a:spcPts val="1400"/>
              </a:spcAft>
            </a:pPr>
            <a:r>
              <a:rPr sz="1800" b="0" i="0">
                <a:solidFill>
                  <a:srgbClr val="1C2521"/>
                </a:solidFill>
                <a:latin typeface="Avenir Next"/>
              </a:rPr>
              <a:t>•  L'isolation par la base : chaque pharmacie ne voit que ses propres lignes.</a:t>
            </a:r>
          </a:p>
          <a:p>
            <a:pPr>
              <a:spcAft>
                <a:spcPts val="1400"/>
              </a:spcAft>
            </a:pPr>
            <a:r>
              <a:rPr sz="1800" b="0" i="0">
                <a:solidFill>
                  <a:srgbClr val="1C2521"/>
                </a:solidFill>
                <a:latin typeface="Avenir Next"/>
              </a:rPr>
              <a:t>•  Un vrai parseur : une seule instruction, jamais autre chose qu'une lecture.</a:t>
            </a:r>
          </a:p>
        </p:txBody>
      </p:sp>
      <p:sp>
        <p:nvSpPr>
          <p:cNvPr id="5" name="TextBox 4"/>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323E"/>
        </a:solidFill>
        <a:effectLst/>
      </p:bgPr>
    </p:bg>
    <p:spTree>
      <p:nvGrpSpPr>
        <p:cNvPr id="1" name=""/>
        <p:cNvGrpSpPr/>
        <p:nvPr/>
      </p:nvGrpSpPr>
      <p:grpSpPr/>
      <p:sp>
        <p:nvSpPr>
          <p:cNvPr id="2" name="TextBox 1"/>
          <p:cNvSpPr txBox="1"/>
          <p:nvPr/>
        </p:nvSpPr>
        <p:spPr>
          <a:xfrm>
            <a:off x="822960" y="2103120"/>
            <a:ext cx="9144000" cy="457200"/>
          </a:xfrm>
          <a:prstGeom prst="rect">
            <a:avLst/>
          </a:prstGeom>
          <a:noFill/>
        </p:spPr>
        <p:txBody>
          <a:bodyPr wrap="square">
            <a:spAutoFit/>
          </a:bodyPr>
          <a:lstStyle/>
          <a:p>
            <a:r>
              <a:rPr sz="1300" b="1" i="0">
                <a:solidFill>
                  <a:srgbClr val="E4B27C"/>
                </a:solidFill>
                <a:latin typeface="Avenir Next"/>
              </a:rPr>
              <a:t>MOMENT DÉMO</a:t>
            </a:r>
          </a:p>
        </p:txBody>
      </p:sp>
      <p:sp>
        <p:nvSpPr>
          <p:cNvPr id="3" name="TextBox 2"/>
          <p:cNvSpPr txBox="1"/>
          <p:nvPr/>
        </p:nvSpPr>
        <p:spPr>
          <a:xfrm>
            <a:off x="822960" y="2514600"/>
            <a:ext cx="10424160" cy="1463040"/>
          </a:xfrm>
          <a:prstGeom prst="rect">
            <a:avLst/>
          </a:prstGeom>
          <a:noFill/>
        </p:spPr>
        <p:txBody>
          <a:bodyPr wrap="square">
            <a:spAutoFit/>
          </a:bodyPr>
          <a:lstStyle/>
          <a:p>
            <a:r>
              <a:rPr sz="4000" b="1" i="0">
                <a:solidFill>
                  <a:srgbClr val="E8E6DC"/>
                </a:solidFill>
                <a:latin typeface="Georgia"/>
              </a:rPr>
              <a:t>Une vraie question, en direct</a:t>
            </a:r>
          </a:p>
        </p:txBody>
      </p:sp>
      <p:sp>
        <p:nvSpPr>
          <p:cNvPr id="4" name="TextBox 3"/>
          <p:cNvSpPr txBox="1"/>
          <p:nvPr/>
        </p:nvSpPr>
        <p:spPr>
          <a:xfrm>
            <a:off x="822960" y="3840480"/>
            <a:ext cx="9601200" cy="1371600"/>
          </a:xfrm>
          <a:prstGeom prst="rect">
            <a:avLst/>
          </a:prstGeom>
          <a:noFill/>
        </p:spPr>
        <p:txBody>
          <a:bodyPr wrap="square">
            <a:spAutoFit/>
          </a:bodyPr>
          <a:lstStyle/>
          <a:p>
            <a:r>
              <a:rPr sz="1800" b="0" i="0">
                <a:solidFill>
                  <a:srgbClr val="E8E6DC"/>
                </a:solidFill>
                <a:latin typeface="Avenir Next"/>
              </a:rPr>
              <a:t>On pose une question dans le Chat, et on regarde ensemble le SQL généré, le graphique, et la phrase qui en sort. Si possible, une question un peu ambiguë pour voir la réparation automatique se déclencher en direct.</a:t>
            </a:r>
          </a:p>
        </p:txBody>
      </p:sp>
      <p:sp>
        <p:nvSpPr>
          <p:cNvPr id="5" name="TextBox 4"/>
          <p:cNvSpPr txBox="1"/>
          <p:nvPr/>
        </p:nvSpPr>
        <p:spPr>
          <a:xfrm>
            <a:off x="11292840" y="6446520"/>
            <a:ext cx="822960" cy="320040"/>
          </a:xfrm>
          <a:prstGeom prst="rect">
            <a:avLst/>
          </a:prstGeom>
          <a:noFill/>
        </p:spPr>
        <p:txBody>
          <a:bodyPr wrap="square">
            <a:spAutoFit/>
          </a:bodyPr>
          <a:lstStyle/>
          <a:p>
            <a:pPr algn="r"/>
            <a:r>
              <a:rPr sz="1000" b="0" i="0">
                <a:solidFill>
                  <a:srgbClr val="9BA39A"/>
                </a:solidFill>
                <a:latin typeface="Avenir Next"/>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0E9"/>
        </a:solidFill>
        <a:effectLst/>
      </p:bgPr>
    </p:bg>
    <p:spTree>
      <p:nvGrpSpPr>
        <p:cNvPr id="1" name=""/>
        <p:cNvGrpSpPr/>
        <p:nvPr/>
      </p:nvGrpSpPr>
      <p:grpSpPr/>
      <p:sp>
        <p:nvSpPr>
          <p:cNvPr id="2" name="TextBox 1"/>
          <p:cNvSpPr txBox="1"/>
          <p:nvPr/>
        </p:nvSpPr>
        <p:spPr>
          <a:xfrm>
            <a:off x="822960" y="502920"/>
            <a:ext cx="7315200" cy="457200"/>
          </a:xfrm>
          <a:prstGeom prst="rect">
            <a:avLst/>
          </a:prstGeom>
          <a:noFill/>
        </p:spPr>
        <p:txBody>
          <a:bodyPr wrap="square">
            <a:spAutoFit/>
          </a:bodyPr>
          <a:lstStyle/>
          <a:p>
            <a:r>
              <a:rPr sz="1300" b="1" i="0">
                <a:solidFill>
                  <a:srgbClr val="B96E23"/>
                </a:solidFill>
                <a:latin typeface="Avenir Next"/>
              </a:rPr>
              <a:t>HONNÊTETÉ TECHNIQUE</a:t>
            </a:r>
          </a:p>
        </p:txBody>
      </p:sp>
      <p:sp>
        <p:nvSpPr>
          <p:cNvPr id="3" name="TextBox 2"/>
          <p:cNvSpPr txBox="1"/>
          <p:nvPr/>
        </p:nvSpPr>
        <p:spPr>
          <a:xfrm>
            <a:off x="822960" y="960120"/>
            <a:ext cx="10424160" cy="1463040"/>
          </a:xfrm>
          <a:prstGeom prst="rect">
            <a:avLst/>
          </a:prstGeom>
          <a:noFill/>
        </p:spPr>
        <p:txBody>
          <a:bodyPr wrap="square">
            <a:spAutoFit/>
          </a:bodyPr>
          <a:lstStyle/>
          <a:p>
            <a:r>
              <a:rPr sz="3400" b="1" i="0">
                <a:solidFill>
                  <a:srgbClr val="16323E"/>
                </a:solidFill>
                <a:latin typeface="Georgia"/>
              </a:rPr>
              <a:t>Ce qui ne scale pas encore</a:t>
            </a:r>
          </a:p>
        </p:txBody>
      </p:sp>
      <p:sp>
        <p:nvSpPr>
          <p:cNvPr id="4" name="TextBox 3"/>
          <p:cNvSpPr txBox="1"/>
          <p:nvPr/>
        </p:nvSpPr>
        <p:spPr>
          <a:xfrm>
            <a:off x="822960" y="2377440"/>
            <a:ext cx="10424160" cy="3840480"/>
          </a:xfrm>
          <a:prstGeom prst="rect">
            <a:avLst/>
          </a:prstGeom>
          <a:noFill/>
        </p:spPr>
        <p:txBody>
          <a:bodyPr wrap="square">
            <a:spAutoFit/>
          </a:bodyPr>
          <a:lstStyle/>
          <a:p>
            <a:pPr>
              <a:spcAft>
                <a:spcPts val="1400"/>
              </a:spcAft>
            </a:pPr>
            <a:r>
              <a:rPr sz="1800" b="0" i="0">
                <a:solidFill>
                  <a:srgbClr val="1C2521"/>
                </a:solidFill>
                <a:latin typeface="Avenir Next"/>
              </a:rPr>
              <a:t>•  Ollama ne traite qu'une génération à la fois. Pas encore de vrai parallélisme entre plusieurs utilisateurs.</a:t>
            </a:r>
          </a:p>
          <a:p>
            <a:pPr>
              <a:spcAft>
                <a:spcPts val="1400"/>
              </a:spcAft>
            </a:pPr>
            <a:r>
              <a:rPr sz="1800" b="0" i="0">
                <a:solidFill>
                  <a:srgbClr val="1C2521"/>
                </a:solidFill>
                <a:latin typeface="Avenir Next"/>
              </a:rPr>
              <a:t>•  Assumé : ce système reste un MVP de labo, pas une mise en production.</a:t>
            </a:r>
          </a:p>
          <a:p>
            <a:pPr>
              <a:spcAft>
                <a:spcPts val="1400"/>
              </a:spcAft>
            </a:pPr>
            <a:r>
              <a:rPr sz="1800" b="0" i="0">
                <a:solidFill>
                  <a:srgbClr val="1C2521"/>
                </a:solidFill>
                <a:latin typeface="Avenir Next"/>
              </a:rPr>
              <a:t>•  Pistes : activer le parallélisme d'Ollama, mettre en cache les questions fréquentes, passer à un serveur d'inférence avec traitement par lots.</a:t>
            </a:r>
          </a:p>
        </p:txBody>
      </p:sp>
      <p:sp>
        <p:nvSpPr>
          <p:cNvPr id="5" name="TextBox 4"/>
          <p:cNvSpPr txBox="1"/>
          <p:nvPr/>
        </p:nvSpPr>
        <p:spPr>
          <a:xfrm>
            <a:off x="11292840" y="6446520"/>
            <a:ext cx="822960" cy="320040"/>
          </a:xfrm>
          <a:prstGeom prst="rect">
            <a:avLst/>
          </a:prstGeom>
          <a:noFill/>
        </p:spPr>
        <p:txBody>
          <a:bodyPr wrap="square">
            <a:spAutoFit/>
          </a:bodyPr>
          <a:lstStyle/>
          <a:p>
            <a:pPr algn="r"/>
            <a:r>
              <a:rPr sz="1000" b="0" i="0">
                <a:solidFill>
                  <a:srgbClr val="52584E"/>
                </a:solidFill>
                <a:latin typeface="Avenir Next"/>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323E"/>
        </a:solidFill>
        <a:effectLst/>
      </p:bgPr>
    </p:bg>
    <p:spTree>
      <p:nvGrpSpPr>
        <p:cNvPr id="1" name=""/>
        <p:cNvGrpSpPr/>
        <p:nvPr/>
      </p:nvGrpSpPr>
      <p:grpSpPr/>
      <p:sp>
        <p:nvSpPr>
          <p:cNvPr id="2" name="TextBox 1"/>
          <p:cNvSpPr txBox="1"/>
          <p:nvPr/>
        </p:nvSpPr>
        <p:spPr>
          <a:xfrm>
            <a:off x="822960" y="1828800"/>
            <a:ext cx="9144000" cy="457200"/>
          </a:xfrm>
          <a:prstGeom prst="rect">
            <a:avLst/>
          </a:prstGeom>
          <a:noFill/>
        </p:spPr>
        <p:txBody>
          <a:bodyPr wrap="square">
            <a:spAutoFit/>
          </a:bodyPr>
          <a:lstStyle/>
          <a:p>
            <a:r>
              <a:rPr sz="1300" b="1" i="0">
                <a:solidFill>
                  <a:srgbClr val="E4B27C"/>
                </a:solidFill>
                <a:latin typeface="Avenir Next"/>
              </a:rPr>
              <a:t>CONCLUSION</a:t>
            </a:r>
          </a:p>
        </p:txBody>
      </p:sp>
      <p:sp>
        <p:nvSpPr>
          <p:cNvPr id="3" name="TextBox 2"/>
          <p:cNvSpPr txBox="1"/>
          <p:nvPr/>
        </p:nvSpPr>
        <p:spPr>
          <a:xfrm>
            <a:off x="822960" y="2240280"/>
            <a:ext cx="10424160" cy="1463040"/>
          </a:xfrm>
          <a:prstGeom prst="rect">
            <a:avLst/>
          </a:prstGeom>
          <a:noFill/>
        </p:spPr>
        <p:txBody>
          <a:bodyPr wrap="square">
            <a:spAutoFit/>
          </a:bodyPr>
          <a:lstStyle/>
          <a:p>
            <a:r>
              <a:rPr sz="3400" b="1" i="0">
                <a:solidFill>
                  <a:srgbClr val="E8E6DC"/>
                </a:solidFill>
                <a:latin typeface="Georgia"/>
              </a:rPr>
              <a:t>Ne pas choisir entre fiabilité et flexibilité</a:t>
            </a:r>
          </a:p>
        </p:txBody>
      </p:sp>
      <p:sp>
        <p:nvSpPr>
          <p:cNvPr id="4" name="TextBox 3"/>
          <p:cNvSpPr txBox="1"/>
          <p:nvPr/>
        </p:nvSpPr>
        <p:spPr>
          <a:xfrm>
            <a:off x="822960" y="3566160"/>
            <a:ext cx="9875520" cy="2286000"/>
          </a:xfrm>
          <a:prstGeom prst="rect">
            <a:avLst/>
          </a:prstGeom>
          <a:noFill/>
        </p:spPr>
        <p:txBody>
          <a:bodyPr wrap="square">
            <a:spAutoFit/>
          </a:bodyPr>
          <a:lstStyle/>
          <a:p>
            <a:r>
              <a:rPr sz="1900" b="0" i="1">
                <a:solidFill>
                  <a:srgbClr val="E8E6DC"/>
                </a:solidFill>
                <a:latin typeface="Georgia"/>
              </a:rPr>
              <a:t>La BI classique gagne en fiabilité ce qu'elle perd en flexibilité. Un LLM livré tel quel fait l'inverse. Ce système garde la liberté du langage naturel, avec des garde-fous solides à chaque étage, pour retrouver la confiance qu'on aurait dans du SQL écrit à la main.</a:t>
            </a:r>
          </a:p>
        </p:txBody>
      </p:sp>
      <p:sp>
        <p:nvSpPr>
          <p:cNvPr id="5" name="TextBox 4"/>
          <p:cNvSpPr txBox="1"/>
          <p:nvPr/>
        </p:nvSpPr>
        <p:spPr>
          <a:xfrm>
            <a:off x="11292840" y="6446520"/>
            <a:ext cx="822960" cy="320040"/>
          </a:xfrm>
          <a:prstGeom prst="rect">
            <a:avLst/>
          </a:prstGeom>
          <a:noFill/>
        </p:spPr>
        <p:txBody>
          <a:bodyPr wrap="square">
            <a:spAutoFit/>
          </a:bodyPr>
          <a:lstStyle/>
          <a:p>
            <a:pPr algn="r"/>
            <a:r>
              <a:rPr sz="1000" b="0" i="0">
                <a:solidFill>
                  <a:srgbClr val="9BA39A"/>
                </a:solidFill>
                <a:latin typeface="Avenir Next"/>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